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Segoe UI" panose="020B0502040204020203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507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5995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66281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5597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23080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15979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69903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91607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00591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78364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90788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93515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59459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66562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1031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1154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68314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81991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75207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87396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936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797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7633"/>
            <a:ext cx="13042821" cy="147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2F5FA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Discovering Hidden Musical Era Patterns from 100 Years of Audio Data</a:t>
            </a:r>
            <a:endParaRPr lang="en-US" sz="5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347107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Using PySpark, MLlib, PCA &amp; K-Means Clustering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5257168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CS-649  Big Data Tools and Methods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5807117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Rucha Dave | 131752956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6357067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577,018 Songs   |   1922 – 2020   |   9 Audio Features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6898"/>
            <a:ext cx="11568589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Can a Machine Rediscover Music History?</a:t>
            </a:r>
            <a:endParaRPr lang="en-US" sz="44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33951" y="2229326"/>
            <a:ext cx="12702659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"Without any knowledge of culture, history, or genre, can an algorithm discover how music has evolved over 100 years using only audio features?"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1974175"/>
            <a:ext cx="30480" cy="1099899"/>
          </a:xfrm>
          <a:prstGeom prst="rect">
            <a:avLst/>
          </a:prstGeom>
          <a:solidFill>
            <a:srgbClr val="6296FF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329226"/>
            <a:ext cx="6407944" cy="1888331"/>
          </a:xfrm>
          <a:prstGeom prst="roundRect">
            <a:avLst>
              <a:gd name="adj" fmla="val 5045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3464" y="3578900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Historical Scale</a:t>
            </a: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3464" y="4083487"/>
            <a:ext cx="590859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Music has 100+ years of recorded history, impossible to analyze manually at scale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28548" y="3329226"/>
            <a:ext cx="6408063" cy="1888331"/>
          </a:xfrm>
          <a:prstGeom prst="roundRect">
            <a:avLst>
              <a:gd name="adj" fmla="val 5045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78222" y="3578900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Audio Features</a:t>
            </a: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78222" y="4083487"/>
            <a:ext cx="5908715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Spotify provides measurable audio features for each song, including danceability, energy, acousticness, tempo, and valence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3790" y="5444371"/>
            <a:ext cx="6407944" cy="1888331"/>
          </a:xfrm>
          <a:prstGeom prst="roundRect">
            <a:avLst>
              <a:gd name="adj" fmla="val 5045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3464" y="5694045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Big Data Processing</a:t>
            </a: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43464" y="6198632"/>
            <a:ext cx="5908596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PySpark enables distributed processing of 577,018 songs across 11 decades, allowing scalable analysis of large audio datasets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28548" y="5444371"/>
            <a:ext cx="6408063" cy="1888331"/>
          </a:xfrm>
          <a:prstGeom prst="roundRect">
            <a:avLst>
              <a:gd name="adj" fmla="val 5045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78222" y="5694045"/>
            <a:ext cx="3376970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Real-World Applications</a:t>
            </a: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78222" y="6198632"/>
            <a:ext cx="5908715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Spotify recommendation systems, music licensing platforms, record label analytics, and cultural trend analysis</a:t>
            </a:r>
            <a:endParaRPr lang="en-US" sz="1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623" y="463512"/>
            <a:ext cx="8656915" cy="58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550" b="1" dirty="0">
                <a:solidFill>
                  <a:srgbClr val="F2F5FA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Dataset &amp; PySpark Distributed Pipeline</a:t>
            </a:r>
            <a:endParaRPr lang="en-US" sz="35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0623" y="1378340"/>
            <a:ext cx="2711291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F2F5FA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Dataset Overview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623" y="1874711"/>
            <a:ext cx="6015395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Source:</a:t>
            </a: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 Spotify Tracks Dataset (1921–2020, Kaggle)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70623" y="2215230"/>
            <a:ext cx="6015395" cy="125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Raw rows: 586,672 tracks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Clean rows: 577,018 tracks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Year range: 1922 – 2020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Decades covered: 11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Features used: 9 audio features per song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134645" y="1378340"/>
            <a:ext cx="2711291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F2F5FA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Audio Features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34645" y="1874711"/>
            <a:ext cx="6015395" cy="2301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Danceability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Energy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Loudness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Speechiness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Acousticness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Instrumentalness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Liveness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Valence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Tempo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70593" y="4134363"/>
            <a:ext cx="2711291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F2F5FA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PySpark Pipeline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78123" y="4815281"/>
            <a:ext cx="361474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b="1" dirty="0">
                <a:solidFill>
                  <a:srgbClr val="EBEDF0"/>
                </a:solidFill>
                <a:latin typeface="Segoe UI" panose="020B0502040204020203" pitchFamily="34" charset="0"/>
                <a:ea typeface="Geist Light" pitchFamily="34" charset="-122"/>
                <a:cs typeface="Segoe UI" panose="020B0502040204020203" pitchFamily="34" charset="0"/>
              </a:rPr>
              <a:t>01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23" y="5108532"/>
            <a:ext cx="3010019" cy="228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8123" y="5244620"/>
            <a:ext cx="2259330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PySpark Read CSV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78123" y="5624667"/>
            <a:ext cx="3010019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tracks.csv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832088" y="4815281"/>
            <a:ext cx="361474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b="1" dirty="0">
                <a:solidFill>
                  <a:srgbClr val="EBEDF0"/>
                </a:solidFill>
                <a:latin typeface="Segoe UI" panose="020B0502040204020203" pitchFamily="34" charset="0"/>
                <a:ea typeface="Geist Light" pitchFamily="34" charset="-122"/>
                <a:cs typeface="Segoe UI" panose="020B0502040204020203" pitchFamily="34" charset="0"/>
              </a:rPr>
              <a:t>02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2088" y="5108532"/>
            <a:ext cx="3010019" cy="228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32088" y="5244620"/>
            <a:ext cx="2259330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Year Extraction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832088" y="5624667"/>
            <a:ext cx="3010019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regexp_extract + try_cast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986054" y="4815281"/>
            <a:ext cx="361474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b="1" dirty="0">
                <a:solidFill>
                  <a:srgbClr val="EBEDF0"/>
                </a:solidFill>
                <a:latin typeface="Segoe UI" panose="020B0502040204020203" pitchFamily="34" charset="0"/>
                <a:ea typeface="Geist Light" pitchFamily="34" charset="-122"/>
                <a:cs typeface="Segoe UI" panose="020B0502040204020203" pitchFamily="34" charset="0"/>
              </a:rPr>
              <a:t>03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054" y="5108532"/>
            <a:ext cx="3010019" cy="228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86054" y="5244620"/>
            <a:ext cx="2259330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Data Cleaning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6986054" y="5624667"/>
            <a:ext cx="3010019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dropna() + Year Filter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10140019" y="4815281"/>
            <a:ext cx="361474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b="1" dirty="0">
                <a:solidFill>
                  <a:srgbClr val="EBEDF0"/>
                </a:solidFill>
                <a:latin typeface="Segoe UI" panose="020B0502040204020203" pitchFamily="34" charset="0"/>
                <a:ea typeface="Geist Light" pitchFamily="34" charset="-122"/>
                <a:cs typeface="Segoe UI" panose="020B0502040204020203" pitchFamily="34" charset="0"/>
              </a:rPr>
              <a:t>04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0019" y="5108532"/>
            <a:ext cx="3010019" cy="228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140019" y="5244620"/>
            <a:ext cx="242399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Feature Engineering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10140019" y="5624667"/>
            <a:ext cx="3010019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VectorAssembler + StandardScaler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678123" y="6261949"/>
            <a:ext cx="361474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b="1" dirty="0">
                <a:solidFill>
                  <a:srgbClr val="EBEDF0"/>
                </a:solidFill>
                <a:latin typeface="Segoe UI" panose="020B0502040204020203" pitchFamily="34" charset="0"/>
                <a:ea typeface="Geist Light" pitchFamily="34" charset="-122"/>
                <a:cs typeface="Segoe UI" panose="020B0502040204020203" pitchFamily="34" charset="0"/>
              </a:rPr>
              <a:t>05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23" y="6537221"/>
            <a:ext cx="4061341" cy="228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78123" y="6691288"/>
            <a:ext cx="282035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Dimensionality Reduction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678123" y="7071336"/>
            <a:ext cx="4061341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PCA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4883410" y="6261949"/>
            <a:ext cx="361474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b="1" dirty="0">
                <a:solidFill>
                  <a:srgbClr val="EBEDF0"/>
                </a:solidFill>
                <a:latin typeface="Segoe UI" panose="020B0502040204020203" pitchFamily="34" charset="0"/>
                <a:ea typeface="Geist Light" pitchFamily="34" charset="-122"/>
                <a:cs typeface="Segoe UI" panose="020B0502040204020203" pitchFamily="34" charset="0"/>
              </a:rPr>
              <a:t>06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410" y="6537221"/>
            <a:ext cx="4061341" cy="228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883410" y="6691288"/>
            <a:ext cx="2259330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K-Means Clustering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4883410" y="7071336"/>
            <a:ext cx="4061341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9088698" y="6261949"/>
            <a:ext cx="361474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b="1" dirty="0">
                <a:solidFill>
                  <a:srgbClr val="EBEDF0"/>
                </a:solidFill>
                <a:latin typeface="Segoe UI" panose="020B0502040204020203" pitchFamily="34" charset="0"/>
                <a:ea typeface="Geist Light" pitchFamily="34" charset="-122"/>
                <a:cs typeface="Segoe UI" panose="020B0502040204020203" pitchFamily="34" charset="0"/>
              </a:rPr>
              <a:t>07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8698" y="6537221"/>
            <a:ext cx="4061341" cy="2286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088698" y="6691288"/>
            <a:ext cx="276439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Analysis &amp; Visualizations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6" name="Text 27"/>
          <p:cNvSpPr/>
          <p:nvPr/>
        </p:nvSpPr>
        <p:spPr>
          <a:xfrm>
            <a:off x="9088698" y="7071336"/>
            <a:ext cx="4061341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6360" y="362368"/>
            <a:ext cx="7065288" cy="483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2F5FA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Feature Engineering &amp; Model Selection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56360" y="977265"/>
            <a:ext cx="2414468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250"/>
              </a:lnSpc>
              <a:buNone/>
            </a:pPr>
            <a:r>
              <a:rPr lang="en-US" b="1" dirty="0">
                <a:solidFill>
                  <a:srgbClr val="F2F5FA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StandardScaler + PCA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6360" y="1379078"/>
            <a:ext cx="10271046" cy="711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All 9 features are standardized to zero mean and unit standard deviation using PySpark MLlib StandardScaler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PCA captures ~48% variance in 2D (used only for visualization)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Clustering is performed on full 9D feature space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56360" y="2258694"/>
            <a:ext cx="13087721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>
              <a:lnSpc>
                <a:spcPts val="2250"/>
              </a:lnSpc>
            </a:pPr>
            <a:r>
              <a:rPr lang="en-US" b="1" dirty="0">
                <a:solidFill>
                  <a:srgbClr val="F2F5FA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Choosing K (Silhouette Score Method) : </a:t>
            </a:r>
            <a:r>
              <a:rPr lang="en-US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Measures how well each point fits within its cluster. Higher score = better separation.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lnSpc>
                <a:spcPts val="2250"/>
              </a:lnSpc>
              <a:buNone/>
            </a:pPr>
            <a:r>
              <a:rPr lang="en-US" b="1" dirty="0">
                <a:solidFill>
                  <a:srgbClr val="F2F5FA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876" y="2852261"/>
            <a:ext cx="8344670" cy="46162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7916" y="7677610"/>
            <a:ext cx="10271046" cy="160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1250"/>
              </a:lnSpc>
              <a:buNone/>
            </a:pPr>
            <a:r>
              <a:rPr lang="en-US" sz="1600" b="1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K = 4</a:t>
            </a: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 → Optimal (Highest silhouette score = 0.3635)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0280" y="410765"/>
            <a:ext cx="7121485" cy="529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200" b="1" dirty="0">
                <a:solidFill>
                  <a:srgbClr val="F2F5FA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How Music Changed Over 100 Years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0280" y="987266"/>
            <a:ext cx="4291013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F2F5FA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Key Findings from 100 Years of Data</a:t>
            </a:r>
            <a:endParaRPr lang="en-US" sz="1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0280" y="1521499"/>
            <a:ext cx="162997" cy="16299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280" y="1743194"/>
            <a:ext cx="3671530" cy="228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0280" y="1870353"/>
            <a:ext cx="2160627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Acousticness Decline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930280" y="2205514"/>
            <a:ext cx="3671530" cy="546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Acousticness decreased significantly over time as electric instruments became dominant over acoustic ones</a:t>
            </a:r>
            <a:endParaRPr lang="en-US" sz="12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8968" y="1521499"/>
            <a:ext cx="162997" cy="162997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968" y="1759386"/>
            <a:ext cx="3671649" cy="228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718968" y="1870353"/>
            <a:ext cx="203787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Energy Rise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 5"/>
          <p:cNvSpPr/>
          <p:nvPr/>
        </p:nvSpPr>
        <p:spPr>
          <a:xfrm>
            <a:off x="4718968" y="2205514"/>
            <a:ext cx="3671649" cy="364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Energy increased steadily, reflecting louder and more intense modern production</a:t>
            </a:r>
            <a:endParaRPr lang="en-US" sz="12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7775" y="1521499"/>
            <a:ext cx="162997" cy="162997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7775" y="1759386"/>
            <a:ext cx="3671649" cy="2286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507775" y="1870353"/>
            <a:ext cx="203787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Danceability Growth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7"/>
          <p:cNvSpPr/>
          <p:nvPr/>
        </p:nvSpPr>
        <p:spPr>
          <a:xfrm>
            <a:off x="8507775" y="2205514"/>
            <a:ext cx="3671649" cy="364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Danceability increased as rhythm-driven genres became dominant</a:t>
            </a:r>
            <a:endParaRPr lang="en-US" sz="12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9697" y="3034085"/>
            <a:ext cx="9611005" cy="4399133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3104040" y="7615265"/>
            <a:ext cx="8422317" cy="20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Acousticness decreases while energy increases, showing a major shift in music style over time.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1841" y="421542"/>
            <a:ext cx="8052435" cy="541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250" b="1" dirty="0">
                <a:solidFill>
                  <a:srgbClr val="F2F5FA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K-Means Clustering - 4 Musical Profiles</a:t>
            </a:r>
            <a:endParaRPr lang="en-US" sz="32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771" y="1129547"/>
            <a:ext cx="7236738" cy="458521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1841" y="6032540"/>
            <a:ext cx="11493698" cy="22860"/>
          </a:xfrm>
          <a:prstGeom prst="roundRect">
            <a:avLst>
              <a:gd name="adj" fmla="val 306046"/>
            </a:avLst>
          </a:prstGeom>
          <a:solidFill>
            <a:srgbClr val="002A80"/>
          </a:solidFill>
          <a:ln/>
        </p:spPr>
      </p:sp>
      <p:sp>
        <p:nvSpPr>
          <p:cNvPr id="5" name="Shape 2"/>
          <p:cNvSpPr/>
          <p:nvPr/>
        </p:nvSpPr>
        <p:spPr>
          <a:xfrm>
            <a:off x="2319750" y="6032480"/>
            <a:ext cx="22860" cy="333137"/>
          </a:xfrm>
          <a:prstGeom prst="roundRect">
            <a:avLst>
              <a:gd name="adj" fmla="val 306046"/>
            </a:avLst>
          </a:prstGeom>
          <a:solidFill>
            <a:srgbClr val="002A8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8732" y="5970032"/>
            <a:ext cx="124897" cy="1248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18410" y="6532245"/>
            <a:ext cx="2425541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Acoustic / Vintage Style (32.5%)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118410" y="7146845"/>
            <a:ext cx="2425541" cy="187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High acousticness, low energy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231305" y="6032480"/>
            <a:ext cx="22860" cy="333137"/>
          </a:xfrm>
          <a:prstGeom prst="roundRect">
            <a:avLst>
              <a:gd name="adj" fmla="val 306046"/>
            </a:avLst>
          </a:prstGeom>
          <a:solidFill>
            <a:srgbClr val="002A80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0286" y="5970032"/>
            <a:ext cx="124897" cy="12489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029964" y="6532245"/>
            <a:ext cx="2425660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Modern Pop &amp; Dance (53.5%)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4029964" y="7146845"/>
            <a:ext cx="2425660" cy="187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High energy, danceable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8142978" y="6032480"/>
            <a:ext cx="22860" cy="333137"/>
          </a:xfrm>
          <a:prstGeom prst="roundRect">
            <a:avLst>
              <a:gd name="adj" fmla="val 306046"/>
            </a:avLst>
          </a:prstGeom>
          <a:solidFill>
            <a:srgbClr val="002A80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1960" y="5970032"/>
            <a:ext cx="124897" cy="12489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41638" y="6532245"/>
            <a:ext cx="2425660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Rap &amp; Spoken Word  (4.6%)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6941638" y="7146845"/>
            <a:ext cx="2425660" cy="187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High speechiness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11054652" y="6032480"/>
            <a:ext cx="22860" cy="333137"/>
          </a:xfrm>
          <a:prstGeom prst="roundRect">
            <a:avLst>
              <a:gd name="adj" fmla="val 306046"/>
            </a:avLst>
          </a:prstGeom>
          <a:solidFill>
            <a:srgbClr val="002A80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633" y="5970032"/>
            <a:ext cx="124897" cy="12489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853311" y="6532245"/>
            <a:ext cx="2425660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Classical / Instrumental (9.4%)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9853311" y="7146845"/>
            <a:ext cx="2425660" cy="187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High instrumental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951841" y="7615960"/>
            <a:ext cx="11493698" cy="187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Clusters are distinguishable but partially overlapping, reflecting gradual transitions in music styles.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6664" y="329768"/>
            <a:ext cx="6980992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b="1" dirty="0">
                <a:solidFill>
                  <a:srgbClr val="F2F5FA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The Algorithm Rediscovered Music History (Without Labels)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07579" y="820104"/>
            <a:ext cx="45719" cy="5693330"/>
          </a:xfrm>
          <a:prstGeom prst="roundRect">
            <a:avLst>
              <a:gd name="adj" fmla="val 332093"/>
            </a:avLst>
          </a:prstGeom>
          <a:solidFill>
            <a:srgbClr val="002A80"/>
          </a:solidFill>
          <a:ln/>
        </p:spPr>
      </p:sp>
      <p:sp>
        <p:nvSpPr>
          <p:cNvPr id="4" name="Shape 2"/>
          <p:cNvSpPr/>
          <p:nvPr/>
        </p:nvSpPr>
        <p:spPr>
          <a:xfrm>
            <a:off x="6833414" y="947976"/>
            <a:ext cx="361474" cy="15240"/>
          </a:xfrm>
          <a:prstGeom prst="roundRect">
            <a:avLst>
              <a:gd name="adj" fmla="val 332093"/>
            </a:avLst>
          </a:prstGeom>
          <a:solidFill>
            <a:srgbClr val="002A80"/>
          </a:solidFill>
          <a:ln/>
        </p:spPr>
      </p:sp>
      <p:sp>
        <p:nvSpPr>
          <p:cNvPr id="5" name="Shape 3"/>
          <p:cNvSpPr/>
          <p:nvPr/>
        </p:nvSpPr>
        <p:spPr>
          <a:xfrm>
            <a:off x="7179647" y="820103"/>
            <a:ext cx="271105" cy="271105"/>
          </a:xfrm>
          <a:prstGeom prst="roundRect">
            <a:avLst>
              <a:gd name="adj" fmla="val 18668"/>
            </a:avLst>
          </a:prstGeom>
          <a:solidFill>
            <a:srgbClr val="101620"/>
          </a:solidFill>
          <a:ln w="7620">
            <a:solidFill>
              <a:srgbClr val="002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4772" y="838140"/>
            <a:ext cx="180737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1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206484" y="857726"/>
            <a:ext cx="1506260" cy="195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1920s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157895" y="1091803"/>
            <a:ext cx="3554849" cy="11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Acoustic / Vintage Style</a:t>
            </a:r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35513" y="1557933"/>
            <a:ext cx="361474" cy="15240"/>
          </a:xfrm>
          <a:prstGeom prst="roundRect">
            <a:avLst>
              <a:gd name="adj" fmla="val 332093"/>
            </a:avLst>
          </a:prstGeom>
          <a:solidFill>
            <a:srgbClr val="002A80"/>
          </a:solidFill>
          <a:ln/>
        </p:spPr>
      </p:sp>
      <p:sp>
        <p:nvSpPr>
          <p:cNvPr id="10" name="Shape 8"/>
          <p:cNvSpPr/>
          <p:nvPr/>
        </p:nvSpPr>
        <p:spPr>
          <a:xfrm>
            <a:off x="7179647" y="1430060"/>
            <a:ext cx="271105" cy="271105"/>
          </a:xfrm>
          <a:prstGeom prst="roundRect">
            <a:avLst>
              <a:gd name="adj" fmla="val 18668"/>
            </a:avLst>
          </a:prstGeom>
          <a:solidFill>
            <a:srgbClr val="101620"/>
          </a:solidFill>
          <a:ln w="7620">
            <a:solidFill>
              <a:srgbClr val="002A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4772" y="1448098"/>
            <a:ext cx="180737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2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17656" y="1467683"/>
            <a:ext cx="1506260" cy="195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1930s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917656" y="1701760"/>
            <a:ext cx="3554849" cy="11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Acoustic / Vintage Style</a:t>
            </a:r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833414" y="2122646"/>
            <a:ext cx="361474" cy="15240"/>
          </a:xfrm>
          <a:prstGeom prst="roundRect">
            <a:avLst>
              <a:gd name="adj" fmla="val 332093"/>
            </a:avLst>
          </a:prstGeom>
          <a:solidFill>
            <a:srgbClr val="002A80"/>
          </a:solidFill>
          <a:ln/>
        </p:spPr>
      </p:sp>
      <p:sp>
        <p:nvSpPr>
          <p:cNvPr id="15" name="Shape 13"/>
          <p:cNvSpPr/>
          <p:nvPr/>
        </p:nvSpPr>
        <p:spPr>
          <a:xfrm>
            <a:off x="7179647" y="1994773"/>
            <a:ext cx="271105" cy="271105"/>
          </a:xfrm>
          <a:prstGeom prst="roundRect">
            <a:avLst>
              <a:gd name="adj" fmla="val 18668"/>
            </a:avLst>
          </a:prstGeom>
          <a:solidFill>
            <a:srgbClr val="101620"/>
          </a:solidFill>
          <a:ln w="7620">
            <a:solidFill>
              <a:srgbClr val="002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4772" y="2012811"/>
            <a:ext cx="180737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3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206484" y="2032397"/>
            <a:ext cx="1506260" cy="195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1940s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157895" y="2266474"/>
            <a:ext cx="3554849" cy="11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Acoustic / Vintage Style</a:t>
            </a:r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435513" y="2687479"/>
            <a:ext cx="361474" cy="15240"/>
          </a:xfrm>
          <a:prstGeom prst="roundRect">
            <a:avLst>
              <a:gd name="adj" fmla="val 332093"/>
            </a:avLst>
          </a:prstGeom>
          <a:solidFill>
            <a:srgbClr val="002A80"/>
          </a:solidFill>
          <a:ln/>
        </p:spPr>
      </p:sp>
      <p:sp>
        <p:nvSpPr>
          <p:cNvPr id="20" name="Shape 18"/>
          <p:cNvSpPr/>
          <p:nvPr/>
        </p:nvSpPr>
        <p:spPr>
          <a:xfrm>
            <a:off x="7179647" y="2559606"/>
            <a:ext cx="271105" cy="271105"/>
          </a:xfrm>
          <a:prstGeom prst="roundRect">
            <a:avLst>
              <a:gd name="adj" fmla="val 18668"/>
            </a:avLst>
          </a:prstGeom>
          <a:solidFill>
            <a:srgbClr val="101620"/>
          </a:solidFill>
          <a:ln w="7620">
            <a:solidFill>
              <a:srgbClr val="002A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4772" y="2577644"/>
            <a:ext cx="180737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4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917656" y="2597229"/>
            <a:ext cx="1506260" cy="195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1950s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917656" y="2831306"/>
            <a:ext cx="3554849" cy="11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Acoustic / Vintage Style</a:t>
            </a:r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833414" y="3252311"/>
            <a:ext cx="361474" cy="15240"/>
          </a:xfrm>
          <a:prstGeom prst="roundRect">
            <a:avLst>
              <a:gd name="adj" fmla="val 332093"/>
            </a:avLst>
          </a:prstGeom>
          <a:solidFill>
            <a:srgbClr val="002A80"/>
          </a:solidFill>
          <a:ln/>
        </p:spPr>
      </p:sp>
      <p:sp>
        <p:nvSpPr>
          <p:cNvPr id="25" name="Shape 23"/>
          <p:cNvSpPr/>
          <p:nvPr/>
        </p:nvSpPr>
        <p:spPr>
          <a:xfrm>
            <a:off x="7179647" y="3124438"/>
            <a:ext cx="271105" cy="271105"/>
          </a:xfrm>
          <a:prstGeom prst="roundRect">
            <a:avLst>
              <a:gd name="adj" fmla="val 18668"/>
            </a:avLst>
          </a:prstGeom>
          <a:solidFill>
            <a:srgbClr val="101620"/>
          </a:solidFill>
          <a:ln w="7620">
            <a:solidFill>
              <a:srgbClr val="002A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4772" y="3142476"/>
            <a:ext cx="180737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5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206484" y="3162062"/>
            <a:ext cx="1506260" cy="195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1960s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157895" y="3396139"/>
            <a:ext cx="3554849" cy="11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Acoustic / Vintage Style</a:t>
            </a:r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435513" y="3817144"/>
            <a:ext cx="361474" cy="15240"/>
          </a:xfrm>
          <a:prstGeom prst="roundRect">
            <a:avLst>
              <a:gd name="adj" fmla="val 332093"/>
            </a:avLst>
          </a:prstGeom>
          <a:solidFill>
            <a:srgbClr val="002A80"/>
          </a:solidFill>
          <a:ln/>
        </p:spPr>
      </p:sp>
      <p:sp>
        <p:nvSpPr>
          <p:cNvPr id="30" name="Shape 28"/>
          <p:cNvSpPr/>
          <p:nvPr/>
        </p:nvSpPr>
        <p:spPr>
          <a:xfrm>
            <a:off x="7179647" y="3689271"/>
            <a:ext cx="271105" cy="271105"/>
          </a:xfrm>
          <a:prstGeom prst="roundRect">
            <a:avLst>
              <a:gd name="adj" fmla="val 18668"/>
            </a:avLst>
          </a:prstGeom>
          <a:solidFill>
            <a:srgbClr val="101620"/>
          </a:solidFill>
          <a:ln w="7620">
            <a:solidFill>
              <a:srgbClr val="002A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4772" y="3707309"/>
            <a:ext cx="180737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6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917656" y="3726894"/>
            <a:ext cx="1506260" cy="195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1970s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917656" y="3960971"/>
            <a:ext cx="3554849" cy="11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Modern Pop &amp; Dance ← THE SHIFT</a:t>
            </a:r>
            <a:endParaRPr 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833414" y="4381976"/>
            <a:ext cx="361474" cy="15240"/>
          </a:xfrm>
          <a:prstGeom prst="roundRect">
            <a:avLst>
              <a:gd name="adj" fmla="val 332093"/>
            </a:avLst>
          </a:prstGeom>
          <a:solidFill>
            <a:srgbClr val="002A80"/>
          </a:solidFill>
          <a:ln/>
        </p:spPr>
      </p:sp>
      <p:sp>
        <p:nvSpPr>
          <p:cNvPr id="35" name="Shape 33"/>
          <p:cNvSpPr/>
          <p:nvPr/>
        </p:nvSpPr>
        <p:spPr>
          <a:xfrm>
            <a:off x="7179647" y="4254103"/>
            <a:ext cx="271105" cy="271105"/>
          </a:xfrm>
          <a:prstGeom prst="roundRect">
            <a:avLst>
              <a:gd name="adj" fmla="val 18668"/>
            </a:avLst>
          </a:prstGeom>
          <a:solidFill>
            <a:srgbClr val="101620"/>
          </a:solidFill>
          <a:ln w="7620">
            <a:solidFill>
              <a:srgbClr val="002A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4772" y="4272141"/>
            <a:ext cx="180737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7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206484" y="4291727"/>
            <a:ext cx="1506260" cy="195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1980s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157895" y="4525804"/>
            <a:ext cx="3554849" cy="11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Modern Pop &amp; Dance</a:t>
            </a:r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435513" y="4946809"/>
            <a:ext cx="361474" cy="15240"/>
          </a:xfrm>
          <a:prstGeom prst="roundRect">
            <a:avLst>
              <a:gd name="adj" fmla="val 332093"/>
            </a:avLst>
          </a:prstGeom>
          <a:solidFill>
            <a:srgbClr val="002A80"/>
          </a:solidFill>
          <a:ln/>
        </p:spPr>
      </p:sp>
      <p:sp>
        <p:nvSpPr>
          <p:cNvPr id="40" name="Shape 38"/>
          <p:cNvSpPr/>
          <p:nvPr/>
        </p:nvSpPr>
        <p:spPr>
          <a:xfrm>
            <a:off x="7179647" y="4818936"/>
            <a:ext cx="271105" cy="271105"/>
          </a:xfrm>
          <a:prstGeom prst="roundRect">
            <a:avLst>
              <a:gd name="adj" fmla="val 18668"/>
            </a:avLst>
          </a:prstGeom>
          <a:solidFill>
            <a:srgbClr val="101620"/>
          </a:solidFill>
          <a:ln w="7620">
            <a:solidFill>
              <a:srgbClr val="002A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24772" y="4836974"/>
            <a:ext cx="180737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8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917656" y="4856559"/>
            <a:ext cx="1506260" cy="195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1990s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917656" y="5090636"/>
            <a:ext cx="3554849" cy="11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Modern Pop &amp; Dance</a:t>
            </a:r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833414" y="5511641"/>
            <a:ext cx="361474" cy="15240"/>
          </a:xfrm>
          <a:prstGeom prst="roundRect">
            <a:avLst>
              <a:gd name="adj" fmla="val 332093"/>
            </a:avLst>
          </a:prstGeom>
          <a:solidFill>
            <a:srgbClr val="002A80"/>
          </a:solidFill>
          <a:ln/>
        </p:spPr>
      </p:sp>
      <p:sp>
        <p:nvSpPr>
          <p:cNvPr id="45" name="Shape 43"/>
          <p:cNvSpPr/>
          <p:nvPr/>
        </p:nvSpPr>
        <p:spPr>
          <a:xfrm>
            <a:off x="7179647" y="5383768"/>
            <a:ext cx="271105" cy="271105"/>
          </a:xfrm>
          <a:prstGeom prst="roundRect">
            <a:avLst>
              <a:gd name="adj" fmla="val 18668"/>
            </a:avLst>
          </a:prstGeom>
          <a:solidFill>
            <a:srgbClr val="101620"/>
          </a:solidFill>
          <a:ln w="7620">
            <a:solidFill>
              <a:srgbClr val="002A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24772" y="5401806"/>
            <a:ext cx="180737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9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206484" y="5421392"/>
            <a:ext cx="1506260" cy="195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2000s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3157895" y="5655469"/>
            <a:ext cx="3554849" cy="11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Modern Pop &amp; Dance</a:t>
            </a:r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7435513" y="6076474"/>
            <a:ext cx="361474" cy="15240"/>
          </a:xfrm>
          <a:prstGeom prst="roundRect">
            <a:avLst>
              <a:gd name="adj" fmla="val 332093"/>
            </a:avLst>
          </a:prstGeom>
          <a:solidFill>
            <a:srgbClr val="002A80"/>
          </a:solidFill>
          <a:ln/>
        </p:spPr>
      </p:sp>
      <p:sp>
        <p:nvSpPr>
          <p:cNvPr id="50" name="Shape 48"/>
          <p:cNvSpPr/>
          <p:nvPr/>
        </p:nvSpPr>
        <p:spPr>
          <a:xfrm>
            <a:off x="7179647" y="5948601"/>
            <a:ext cx="271105" cy="271105"/>
          </a:xfrm>
          <a:prstGeom prst="roundRect">
            <a:avLst>
              <a:gd name="adj" fmla="val 18668"/>
            </a:avLst>
          </a:prstGeom>
          <a:solidFill>
            <a:srgbClr val="101620"/>
          </a:solidFill>
          <a:ln w="7620">
            <a:solidFill>
              <a:srgbClr val="002A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24772" y="5966639"/>
            <a:ext cx="180737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10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917656" y="5986224"/>
            <a:ext cx="1506260" cy="195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2010s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7917656" y="6220301"/>
            <a:ext cx="3554849" cy="11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Modern Pop &amp; Dance</a:t>
            </a:r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833414" y="6641306"/>
            <a:ext cx="361474" cy="15240"/>
          </a:xfrm>
          <a:prstGeom prst="roundRect">
            <a:avLst>
              <a:gd name="adj" fmla="val 332093"/>
            </a:avLst>
          </a:prstGeom>
          <a:solidFill>
            <a:srgbClr val="002A80"/>
          </a:solidFill>
          <a:ln/>
        </p:spPr>
      </p:sp>
      <p:sp>
        <p:nvSpPr>
          <p:cNvPr id="55" name="Shape 53"/>
          <p:cNvSpPr/>
          <p:nvPr/>
        </p:nvSpPr>
        <p:spPr>
          <a:xfrm>
            <a:off x="7179647" y="6513433"/>
            <a:ext cx="271105" cy="271105"/>
          </a:xfrm>
          <a:prstGeom prst="roundRect">
            <a:avLst>
              <a:gd name="adj" fmla="val 18668"/>
            </a:avLst>
          </a:prstGeom>
          <a:solidFill>
            <a:srgbClr val="101620"/>
          </a:solidFill>
          <a:ln w="7620">
            <a:solidFill>
              <a:srgbClr val="002A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24772" y="6531471"/>
            <a:ext cx="180737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11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206484" y="6551057"/>
            <a:ext cx="1506260" cy="195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2020s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3157895" y="6785134"/>
            <a:ext cx="3554849" cy="11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Modern Pop &amp; Dance</a:t>
            </a:r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086579" y="7679097"/>
            <a:ext cx="8133874" cy="11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Key Finding:</a:t>
            </a:r>
            <a:r>
              <a:rPr lang="en-US" sz="14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 "The algorithm identified a major shift in music style between the 1960s and 1970s using only audio features."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936664" y="7591706"/>
            <a:ext cx="15240" cy="263723"/>
          </a:xfrm>
          <a:prstGeom prst="rect">
            <a:avLst/>
          </a:prstGeom>
          <a:solidFill>
            <a:srgbClr val="6296F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0798"/>
            <a:ext cx="11372969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2F5FA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Cluster Profiles and Real Song Validation</a:t>
            </a:r>
            <a:endParaRPr lang="en-US" sz="4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568950"/>
            <a:ext cx="11145441" cy="442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400" b="1" dirty="0">
                <a:solidFill>
                  <a:srgbClr val="F2F5FA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Each Cluster Validated by Real Songs Ranked by Spotify Popularity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687598"/>
            <a:ext cx="6407944" cy="2118955"/>
          </a:xfrm>
          <a:prstGeom prst="roundRect">
            <a:avLst>
              <a:gd name="adj" fmla="val 4496"/>
            </a:avLst>
          </a:prstGeom>
          <a:solidFill>
            <a:srgbClr val="101620">
              <a:alpha val="95000"/>
            </a:srgbClr>
          </a:solidFill>
          <a:ln w="30480">
            <a:solidFill>
              <a:srgbClr val="002A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084" y="2944892"/>
            <a:ext cx="3386614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Acoustic / Vintage Style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51084" y="3449479"/>
            <a:ext cx="5893356" cy="66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Heartbreak Anniversary - Giveon (2020)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Someone You Loved – Lewis Capaldi (2019)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084" y="4254460"/>
            <a:ext cx="589335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Modern songs with acoustic-style sound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28548" y="2687598"/>
            <a:ext cx="6408063" cy="2118955"/>
          </a:xfrm>
          <a:prstGeom prst="roundRect">
            <a:avLst>
              <a:gd name="adj" fmla="val 4496"/>
            </a:avLst>
          </a:prstGeom>
          <a:solidFill>
            <a:srgbClr val="101620">
              <a:alpha val="95000"/>
            </a:srgbClr>
          </a:solidFill>
          <a:ln w="30480">
            <a:solidFill>
              <a:srgbClr val="002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5842" y="2944892"/>
            <a:ext cx="3186232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Modern Pop and Dance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85842" y="3449479"/>
            <a:ext cx="5893475" cy="66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Save Your Tears - The Weeknd (2020)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telepatía - Kali Uchis (2020)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85842" y="4254460"/>
            <a:ext cx="589347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High-energy mainstream pop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5033367"/>
            <a:ext cx="6407944" cy="2118955"/>
          </a:xfrm>
          <a:prstGeom prst="roundRect">
            <a:avLst>
              <a:gd name="adj" fmla="val 4496"/>
            </a:avLst>
          </a:prstGeom>
          <a:solidFill>
            <a:srgbClr val="101620">
              <a:alpha val="95000"/>
            </a:srgbClr>
          </a:solidFill>
          <a:ln w="30480">
            <a:solidFill>
              <a:srgbClr val="002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084" y="5290661"/>
            <a:ext cx="3035737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Rap and Spoken Word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51084" y="5795248"/>
            <a:ext cx="5893356" cy="66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Yes Indeed - Lil Baby and Drake (2018)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Carry On - XXXTENTACION (2017)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51084" y="6600230"/>
            <a:ext cx="589335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Speech-dominant audio patterns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5033367"/>
            <a:ext cx="6408063" cy="2118955"/>
          </a:xfrm>
          <a:prstGeom prst="roundRect">
            <a:avLst>
              <a:gd name="adj" fmla="val 4496"/>
            </a:avLst>
          </a:prstGeom>
          <a:solidFill>
            <a:srgbClr val="101620">
              <a:alpha val="95000"/>
            </a:srgbClr>
          </a:solidFill>
          <a:ln w="30480">
            <a:solidFill>
              <a:srgbClr val="002A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5842" y="5290661"/>
            <a:ext cx="3340656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Classical / Instrumental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85842" y="5795248"/>
            <a:ext cx="5893475" cy="66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Experience - Ludovico Einaudi (2013)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Clean White Noise - Erik Eriksson (2017)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85842" y="6600230"/>
            <a:ext cx="589347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Instrumental / minimal sound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11" y="563166"/>
            <a:ext cx="7790378" cy="644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3900" b="1" dirty="0">
                <a:solidFill>
                  <a:srgbClr val="F2F5FA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Conclusions and Key Takeaways</a:t>
            </a:r>
            <a:endParaRPr lang="en-US" sz="3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94611" y="1617345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9025" y="1647111"/>
            <a:ext cx="297656" cy="38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1</a:t>
            </a:r>
            <a:endParaRPr lang="en-US" sz="2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14688" y="1617345"/>
            <a:ext cx="5086707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Distributed Processing at Scale (PySpark)</a:t>
            </a:r>
            <a:endParaRPr lang="en-US" sz="19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14688" y="2044065"/>
            <a:ext cx="12621101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Processed 577K songs using PySpark ML pipeline.</a:t>
            </a:r>
            <a:endParaRPr lang="en-US" sz="15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94611" y="2695099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9025" y="2724865"/>
            <a:ext cx="297656" cy="38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2</a:t>
            </a:r>
            <a:endParaRPr lang="en-US" sz="2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14688" y="2695099"/>
            <a:ext cx="4155400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K=4 Clusters Selected Objectively</a:t>
            </a:r>
            <a:endParaRPr lang="en-US" sz="19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14688" y="3121819"/>
            <a:ext cx="12621101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Silhouette score identified optimal clustering structure.</a:t>
            </a:r>
            <a:endParaRPr lang="en-US" sz="15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94611" y="3772853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9025" y="3802619"/>
            <a:ext cx="297656" cy="38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3</a:t>
            </a:r>
            <a:endParaRPr lang="en-US" sz="2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14688" y="3772852"/>
            <a:ext cx="4504849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Music Shows a Major Structural Shift</a:t>
            </a:r>
            <a:endParaRPr lang="en-US" sz="19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14688" y="4199573"/>
            <a:ext cx="12621101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Transition from acoustic to high-energy music after 1970s.</a:t>
            </a:r>
            <a:endParaRPr lang="en-US" sz="15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94611" y="4850607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9025" y="4880372"/>
            <a:ext cx="297656" cy="38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4</a:t>
            </a:r>
            <a:endParaRPr lang="en-US" sz="2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14688" y="4850606"/>
            <a:ext cx="5104209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Two Persistent Niches Across All Decades</a:t>
            </a:r>
            <a:endParaRPr lang="en-US" sz="19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14688" y="5277326"/>
            <a:ext cx="12621101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Rap/Spoken and Instrumental styles exist across all eras.</a:t>
            </a:r>
            <a:endParaRPr lang="en-US" sz="15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94611" y="5928361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9025" y="5958126"/>
            <a:ext cx="297656" cy="38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5</a:t>
            </a:r>
            <a:endParaRPr lang="en-US" sz="2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14688" y="5928360"/>
            <a:ext cx="4729520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Segoe UI" panose="020B0502040204020203" pitchFamily="34" charset="0"/>
                <a:ea typeface="Geist Bold" pitchFamily="34" charset="-122"/>
                <a:cs typeface="Segoe UI" panose="020B0502040204020203" pitchFamily="34" charset="0"/>
              </a:rPr>
              <a:t>Algorithm Validated Real Music History</a:t>
            </a:r>
            <a:endParaRPr lang="en-US" sz="19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14688" y="6355080"/>
            <a:ext cx="12621101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1970s shift discovered purely from audio data.</a:t>
            </a:r>
            <a:endParaRPr lang="en-US" sz="15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92267" y="6987421"/>
            <a:ext cx="12943523" cy="48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Segoe UI" panose="020B0502040204020203" pitchFamily="34" charset="0"/>
                <a:ea typeface="Geist" pitchFamily="34" charset="-122"/>
                <a:cs typeface="Segoe UI" panose="020B0502040204020203" pitchFamily="34" charset="0"/>
              </a:rPr>
              <a:t>"Music trends are not random - they follow patterns that can be discovered using data. Big Data tools reveal these patterns at a scale impossible to analyze manually."</a:t>
            </a:r>
            <a:endParaRPr lang="en-US" sz="15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94611" y="6792158"/>
            <a:ext cx="22860" cy="874157"/>
          </a:xfrm>
          <a:prstGeom prst="rect">
            <a:avLst/>
          </a:prstGeom>
          <a:solidFill>
            <a:srgbClr val="6296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</TotalTime>
  <Words>796</Words>
  <Application>Microsoft Office PowerPoint</Application>
  <PresentationFormat>Custom</PresentationFormat>
  <Paragraphs>159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Segoe UI</vt:lpstr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RUCHA DAVE</cp:lastModifiedBy>
  <cp:revision>5</cp:revision>
  <dcterms:created xsi:type="dcterms:W3CDTF">2026-04-23T03:30:37Z</dcterms:created>
  <dcterms:modified xsi:type="dcterms:W3CDTF">2026-04-23T07:14:10Z</dcterms:modified>
</cp:coreProperties>
</file>